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Lunar Lander Repo: Client-Server Data 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 b="0">
                <a:solidFill>
                  <a:srgbClr val="D2DCEB"/>
                </a:solidFill>
              </a:rPr>
              <a:t>How frontend requests travel through APIs and return database-backed simulation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0F0F0"/>
                </a:solidFill>
              </a:rPr>
              <a:t>Repository Client-Server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3108960" cy="1645920"/>
          </a:xfrm>
          <a:prstGeom prst="rect">
            <a:avLst/>
          </a:prstGeom>
          <a:solidFill>
            <a:srgbClr val="2263A7"/>
          </a:solidFill>
          <a:ln>
            <a:solidFill>
              <a:srgbClr val="82B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 b="0">
                <a:solidFill>
                  <a:srgbClr val="F0F0F0"/>
                </a:solidFill>
              </a:rPr>
              <a:t>React Client</a:t>
            </a:r>
          </a:p>
          <a:p>
            <a:r>
              <a:rPr sz="1800" b="0">
                <a:solidFill>
                  <a:srgbClr val="F0F0F0"/>
                </a:solidFill>
              </a:rPr>
              <a:t>(client/src)</a:t>
            </a:r>
          </a:p>
          <a:p/>
          <a:p>
            <a:r>
              <a:rPr sz="1800" b="0">
                <a:solidFill>
                  <a:srgbClr val="F0F0F0"/>
                </a:solidFill>
              </a:rPr>
              <a:t>Calls API helpers</a:t>
            </a:r>
          </a:p>
          <a:p>
            <a:r>
              <a:rPr sz="1800" b="0">
                <a:solidFill>
                  <a:srgbClr val="F0F0F0"/>
                </a:solidFill>
              </a:rPr>
              <a:t>in api/simulation.js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0" y="1508760"/>
            <a:ext cx="2926080" cy="1188720"/>
          </a:xfrm>
          <a:prstGeom prst="rect">
            <a:avLst/>
          </a:prstGeom>
          <a:solidFill>
            <a:srgbClr val="2A3E58"/>
          </a:solidFill>
          <a:ln>
            <a:solidFill>
              <a:srgbClr val="7C97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0">
                <a:solidFill>
                  <a:srgbClr val="F0F0F0"/>
                </a:solidFill>
              </a:rPr>
              <a:t>Vite Proxy</a:t>
            </a:r>
          </a:p>
          <a:p>
            <a:r>
              <a:rPr sz="1600" b="0">
                <a:solidFill>
                  <a:srgbClr val="F0F0F0"/>
                </a:solidFill>
              </a:rPr>
              <a:t>/api -&gt; localhost:3001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097280"/>
            <a:ext cx="3840480" cy="1828800"/>
          </a:xfrm>
          <a:prstGeom prst="rect">
            <a:avLst/>
          </a:prstGeom>
          <a:solidFill>
            <a:srgbClr val="1D7858"/>
          </a:solidFill>
          <a:ln>
            <a:solidFill>
              <a:srgbClr val="88DA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 b="0">
                <a:solidFill>
                  <a:srgbClr val="F0F0F0"/>
                </a:solidFill>
              </a:rPr>
              <a:t>Express Server</a:t>
            </a:r>
          </a:p>
          <a:p>
            <a:r>
              <a:rPr sz="1800" b="0">
                <a:solidFill>
                  <a:srgbClr val="F0F0F0"/>
                </a:solidFill>
              </a:rPr>
              <a:t>(server/src/index.js)</a:t>
            </a:r>
          </a:p>
          <a:p/>
          <a:p>
            <a:r>
              <a:rPr sz="1800" b="0">
                <a:solidFill>
                  <a:srgbClr val="F0F0F0"/>
                </a:solidFill>
              </a:rPr>
              <a:t>Routes under /api/*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3383280"/>
            <a:ext cx="3840480" cy="1828800"/>
          </a:xfrm>
          <a:prstGeom prst="rect">
            <a:avLst/>
          </a:prstGeom>
          <a:solidFill>
            <a:srgbClr val="724A18"/>
          </a:solidFill>
          <a:ln>
            <a:solidFill>
              <a:srgbClr val="E4B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0">
                <a:solidFill>
                  <a:srgbClr val="F0F0F0"/>
                </a:solidFill>
              </a:rPr>
              <a:t>Database Module</a:t>
            </a:r>
          </a:p>
          <a:p>
            <a:r>
              <a:rPr sz="1600" b="0">
                <a:solidFill>
                  <a:srgbClr val="F0F0F0"/>
                </a:solidFill>
              </a:rPr>
              <a:t>(server/src/database/db.js)</a:t>
            </a:r>
          </a:p>
          <a:p/>
          <a:p>
            <a:r>
              <a:rPr sz="1600" b="0">
                <a:solidFill>
                  <a:srgbClr val="F0F0F0"/>
                </a:solidFill>
              </a:rPr>
              <a:t>In-memory + JSON persistence</a:t>
            </a:r>
          </a:p>
          <a:p>
            <a:r>
              <a:rPr sz="1600" b="0">
                <a:solidFill>
                  <a:srgbClr val="F0F0F0"/>
                </a:solidFill>
              </a:rPr>
              <a:t>(server/data/lunar_lander.json)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0" y="2103120"/>
            <a:ext cx="365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6949440" y="2011680"/>
            <a:ext cx="365760" cy="91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235440" y="2926080"/>
            <a:ext cx="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521208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CF0F5"/>
                </a:solidFill>
              </a:defRPr>
            </a:pPr>
            <a:r>
              <a:t>Client UI requests data via axios in client/src/api/simulation.js.</a:t>
            </a:r>
          </a:p>
          <a:p>
            <a:pPr>
              <a:defRPr sz="1600">
                <a:solidFill>
                  <a:srgbClr val="ECF0F5"/>
                </a:solidFill>
              </a:defRPr>
            </a:pPr>
            <a:r>
              <a:t>Vite dev server forwards /api calls to Express (port 3001).</a:t>
            </a:r>
          </a:p>
          <a:p>
            <a:pPr>
              <a:defRPr sz="1600">
                <a:solidFill>
                  <a:srgbClr val="ECF0F5"/>
                </a:solidFill>
              </a:defRPr>
            </a:pPr>
            <a:r>
              <a:t>Express routes call db queries and physics functions, then return JSON responses.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0F0F0"/>
                </a:solidFill>
              </a:rPr>
              <a:t>How The Client Requests Data (API Map)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3035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CF0F5"/>
                </a:solidFill>
              </a:defRPr>
            </a:pPr>
            <a:r>
              <a:t>Read endpoints used by UI:</a:t>
            </a:r>
          </a:p>
          <a:p>
            <a:pPr>
              <a:defRPr sz="1800">
                <a:solidFill>
                  <a:srgbClr val="ECF0F5"/>
                </a:solidFill>
              </a:defRPr>
            </a:pPr>
            <a:r>
              <a:t>GET /api/constants</a:t>
            </a:r>
          </a:p>
          <a:p>
            <a:pPr>
              <a:defRPr sz="1800">
                <a:solidFill>
                  <a:srgbClr val="ECF0F5"/>
                </a:solidFill>
              </a:defRPr>
            </a:pPr>
            <a:r>
              <a:t>GET /api/equations and /api/equations/:category</a:t>
            </a:r>
          </a:p>
          <a:p>
            <a:pPr>
              <a:defRPr sz="1800">
                <a:solidFill>
                  <a:srgbClr val="ECF0F5"/>
                </a:solidFill>
              </a:defRPr>
            </a:pPr>
            <a:r>
              <a:t>GET /api/landers and /api/landers/:id</a:t>
            </a:r>
          </a:p>
          <a:p>
            <a:pPr>
              <a:defRPr sz="1800">
                <a:solidFill>
                  <a:srgbClr val="ECF0F5"/>
                </a:solidFill>
              </a:defRPr>
            </a:pPr>
            <a:r>
              <a:t>GET /api/simulation/:sessionId</a:t>
            </a:r>
          </a:p>
          <a:p>
            <a:pPr>
              <a:defRPr sz="1800">
                <a:solidFill>
                  <a:srgbClr val="ECF0F5"/>
                </a:solidFill>
              </a:defRPr>
            </a:pPr>
            <a:r>
              <a:t>GET /api/simulation/:sessionId/telemetry</a:t>
            </a:r>
          </a:p>
          <a:p>
            <a:pPr>
              <a:defRPr sz="1800">
                <a:solidFill>
                  <a:srgbClr val="ECF0F5"/>
                </a:solidFill>
              </a:defRPr>
            </a:pPr>
            <a:r>
              <a:t>GET /api/sessions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097280"/>
            <a:ext cx="53035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CF0F5"/>
                </a:solidFill>
              </a:defRPr>
            </a:pPr>
            <a:r>
              <a:t>State-changing endpoints:</a:t>
            </a:r>
          </a:p>
          <a:p>
            <a:pPr>
              <a:defRPr sz="1800">
                <a:solidFill>
                  <a:srgbClr val="ECF0F5"/>
                </a:solidFill>
              </a:defRPr>
            </a:pPr>
            <a:r>
              <a:t>POST /api/simulation/start</a:t>
            </a:r>
          </a:p>
          <a:p>
            <a:pPr>
              <a:defRPr sz="1800">
                <a:solidFill>
                  <a:srgbClr val="ECF0F5"/>
                </a:solidFill>
              </a:defRPr>
            </a:pPr>
            <a:r>
              <a:t>POST /api/simulation/:sessionId/step</a:t>
            </a:r>
          </a:p>
          <a:p>
            <a:pPr>
              <a:defRPr sz="1800">
                <a:solidFill>
                  <a:srgbClr val="ECF0F5"/>
                </a:solidFill>
              </a:defRPr>
            </a:pPr>
            <a:r>
              <a:t>POST /api/simulation/:sessionId/mode</a:t>
            </a:r>
          </a:p>
          <a:p>
            <a:pPr>
              <a:defRPr sz="1800">
                <a:solidFill>
                  <a:srgbClr val="ECF0F5"/>
                </a:solidFill>
              </a:defRPr>
            </a:pPr>
            <a:r>
              <a:t>POST /api/simulation/:sessionId/reset</a:t>
            </a:r>
          </a:p>
          <a:p>
            <a:pPr>
              <a:defRPr sz="1800">
                <a:solidFill>
                  <a:srgbClr val="ECF0F5"/>
                </a:solidFill>
              </a:defRPr>
            </a:pPr>
            <a:r>
              <a:t>POST /api/physics/gravity</a:t>
            </a:r>
          </a:p>
          <a:p>
            <a:pPr>
              <a:defRPr sz="1800">
                <a:solidFill>
                  <a:srgbClr val="ECF0F5"/>
                </a:solidFill>
              </a:defRPr>
            </a:pPr>
            <a:r>
              <a:t>POST /api/physics/time-to-impact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CF0F5"/>
                </a:solidFill>
              </a:defRPr>
            </a:pPr>
            <a:r>
              <a:t>All endpoints are served by server/src/index.js and consumed in client/src/api/simulation.js.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0F0F0"/>
                </a:solidFill>
              </a:rPr>
              <a:t>Example Data Flow: Start + Step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CF0F5"/>
                </a:solidFill>
              </a:defRPr>
            </a:pPr>
            <a:r>
              <a:t>1) Client calls startSimulation(config) -&gt; POST /api/simulation/start.</a:t>
            </a:r>
          </a:p>
          <a:p>
            <a:pPr>
              <a:defRPr sz="1800">
                <a:solidFill>
                  <a:srgbClr val="ECF0F5"/>
                </a:solidFill>
              </a:defRPr>
            </a:pPr>
            <a:r>
              <a:t>2) Server loads selected lander via queries.getLanderById(landerId).</a:t>
            </a:r>
          </a:p>
          <a:p>
            <a:pPr>
              <a:defRPr sz="1800">
                <a:solidFill>
                  <a:srgbClr val="ECF0F5"/>
                </a:solidFill>
              </a:defRPr>
            </a:pPr>
            <a:r>
              <a:t>3) Server creates session, initializes Blackboard state, logs telemetry.</a:t>
            </a:r>
          </a:p>
          <a:p>
            <a:pPr>
              <a:defRPr sz="1800">
                <a:solidFill>
                  <a:srgbClr val="ECF0F5"/>
                </a:solidFill>
              </a:defRPr>
            </a:pPr>
            <a:r>
              <a:t>4) Response returns sessionId, initial state, lander, constants.</a:t>
            </a:r>
          </a:p>
          <a:p>
            <a:pPr>
              <a:defRPr sz="1800">
                <a:solidFill>
                  <a:srgbClr val="ECF0F5"/>
                </a:solidFill>
              </a:defRPr>
            </a:pPr>
            <a:r>
              <a:t>5) Client calls stepSimulation(sessionId, thrustPercent, dt).</a:t>
            </a:r>
          </a:p>
          <a:p>
            <a:pPr>
              <a:defRPr sz="1800">
                <a:solidFill>
                  <a:srgbClr val="ECF0F5"/>
                </a:solidFill>
              </a:defRPr>
            </a:pPr>
            <a:r>
              <a:t>6) Server advances physics, updates activeSimulations, and logs telemetry.</a:t>
            </a:r>
          </a:p>
          <a:p>
            <a:pPr>
              <a:defRPr sz="1800">
                <a:solidFill>
                  <a:srgbClr val="ECF0F5"/>
                </a:solidFill>
              </a:defRPr>
            </a:pPr>
            <a:r>
              <a:t>7) Response returns new state JSON for UI and telemetry panels.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21208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CF0F5"/>
                </a:solidFill>
              </a:defRPr>
            </a:pPr>
            <a:r>
              <a:t>Response objects flowing back to client include:</a:t>
            </a:r>
          </a:p>
          <a:p>
            <a:pPr>
              <a:defRPr sz="1600">
                <a:solidFill>
                  <a:srgbClr val="ECF0F5"/>
                </a:solidFill>
              </a:defRPr>
            </a:pPr>
            <a:r>
              <a:t>state.altitude, state.velocity, state.fuel, state.gravity, state.timeToImpact,</a:t>
            </a:r>
          </a:p>
          <a:p>
            <a:pPr>
              <a:defRPr sz="1600">
                <a:solidFill>
                  <a:srgbClr val="ECF0F5"/>
                </a:solidFill>
              </a:defRPr>
            </a:pPr>
            <a:r>
              <a:t>state.touchdownVelocity, landingResult, mode, and history metadata.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0F0F0"/>
                </a:solidFill>
              </a:rPr>
              <a:t>How The Database Sends Information 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0292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CF0F5"/>
                </a:solidFill>
              </a:defRPr>
            </a:pPr>
            <a:r>
              <a:t>Reference data synced on startup:</a:t>
            </a:r>
          </a:p>
          <a:p>
            <a:pPr>
              <a:defRPr sz="1800">
                <a:solidFill>
                  <a:srgbClr val="ECF0F5"/>
                </a:solidFill>
              </a:defRPr>
            </a:pPr>
            <a:r>
              <a:t>physical_constants</a:t>
            </a:r>
          </a:p>
          <a:p>
            <a:pPr>
              <a:defRPr sz="1800">
                <a:solidFill>
                  <a:srgbClr val="ECF0F5"/>
                </a:solidFill>
              </a:defRPr>
            </a:pPr>
            <a:r>
              <a:t>equations</a:t>
            </a:r>
          </a:p>
          <a:p>
            <a:pPr>
              <a:defRPr sz="1800">
                <a:solidFill>
                  <a:srgbClr val="ECF0F5"/>
                </a:solidFill>
              </a:defRPr>
            </a:pPr>
            <a:r>
              <a:t>lander_configs</a:t>
            </a:r>
          </a:p>
          <a:p>
            <a:pPr>
              <a:defRPr sz="1800">
                <a:solidFill>
                  <a:srgbClr val="ECF0F5"/>
                </a:solidFill>
              </a:defRPr>
            </a:pPr>
          </a:p>
          <a:p>
            <a:pPr>
              <a:defRPr sz="1800">
                <a:solidFill>
                  <a:srgbClr val="ECF0F5"/>
                </a:solidFill>
              </a:defRPr>
            </a:pPr>
            <a:r>
              <a:t>Runtime session data:</a:t>
            </a:r>
          </a:p>
          <a:p>
            <a:pPr>
              <a:defRPr sz="1800">
                <a:solidFill>
                  <a:srgbClr val="ECF0F5"/>
                </a:solidFill>
              </a:defRPr>
            </a:pPr>
            <a:r>
              <a:t>simulation_sessions</a:t>
            </a:r>
          </a:p>
          <a:p>
            <a:pPr>
              <a:defRPr sz="1800">
                <a:solidFill>
                  <a:srgbClr val="ECF0F5"/>
                </a:solidFill>
              </a:defRPr>
            </a:pPr>
            <a:r>
              <a:t>telemetry_log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1097280"/>
            <a:ext cx="54864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CF0F5"/>
                </a:solidFill>
              </a:defRPr>
            </a:pPr>
            <a:r>
              <a:t>Read path:</a:t>
            </a:r>
          </a:p>
          <a:p>
            <a:pPr>
              <a:defRPr sz="1600">
                <a:solidFill>
                  <a:srgbClr val="ECF0F5"/>
                </a:solidFill>
              </a:defRPr>
            </a:pPr>
            <a:r>
              <a:t>queries.getAllConstants/getAllEquations/getAllLanders</a:t>
            </a:r>
          </a:p>
          <a:p>
            <a:pPr>
              <a:defRPr sz="1600">
                <a:solidFill>
                  <a:srgbClr val="ECF0F5"/>
                </a:solidFill>
              </a:defRPr>
            </a:pPr>
            <a:r>
              <a:t>queries.getSession/getAllSessions/getTelemetry</a:t>
            </a:r>
          </a:p>
          <a:p>
            <a:pPr>
              <a:defRPr sz="1600">
                <a:solidFill>
                  <a:srgbClr val="ECF0F5"/>
                </a:solidFill>
              </a:defRPr>
            </a:pPr>
          </a:p>
          <a:p>
            <a:pPr>
              <a:defRPr sz="1600">
                <a:solidFill>
                  <a:srgbClr val="ECF0F5"/>
                </a:solidFill>
              </a:defRPr>
            </a:pPr>
            <a:r>
              <a:t>Write path:</a:t>
            </a:r>
          </a:p>
          <a:p>
            <a:pPr>
              <a:defRPr sz="1600">
                <a:solidFill>
                  <a:srgbClr val="ECF0F5"/>
                </a:solidFill>
              </a:defRPr>
            </a:pPr>
            <a:r>
              <a:t>queries.createSession</a:t>
            </a:r>
          </a:p>
          <a:p>
            <a:pPr>
              <a:defRPr sz="1600">
                <a:solidFill>
                  <a:srgbClr val="ECF0F5"/>
                </a:solidFill>
              </a:defRPr>
            </a:pPr>
            <a:r>
              <a:t>queries.updateSession</a:t>
            </a:r>
          </a:p>
          <a:p>
            <a:pPr>
              <a:defRPr sz="1600">
                <a:solidFill>
                  <a:srgbClr val="ECF0F5"/>
                </a:solidFill>
              </a:defRPr>
            </a:pPr>
            <a:r>
              <a:t>queries.logTelemetry</a:t>
            </a:r>
          </a:p>
          <a:p>
            <a:pPr>
              <a:defRPr sz="1600">
                <a:solidFill>
                  <a:srgbClr val="ECF0F5"/>
                </a:solidFill>
              </a:defRPr>
            </a:pPr>
          </a:p>
          <a:p>
            <a:pPr>
              <a:defRPr sz="1600">
                <a:solidFill>
                  <a:srgbClr val="ECF0F5"/>
                </a:solidFill>
              </a:defRPr>
            </a:pPr>
            <a:r>
              <a:t>Persistence:</a:t>
            </a:r>
          </a:p>
          <a:p>
            <a:pPr>
              <a:defRPr sz="1600">
                <a:solidFill>
                  <a:srgbClr val="ECF0F5"/>
                </a:solidFill>
              </a:defRPr>
            </a:pPr>
            <a:r>
              <a:t>saveDatabase() writes JSON to server/data/lunar_lander.json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0F0F0"/>
                </a:solidFill>
              </a:rPr>
              <a:t>Sequence: Client Request -&gt; API Route -&gt; DB Query -&gt; Client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ECF0F5"/>
                </a:solidFill>
              </a:defRPr>
            </a:pPr>
            <a:r>
              <a:t>A. User opens dashboard -&gt; client loads constants, equations, and landers.</a:t>
            </a:r>
          </a:p>
          <a:p>
            <a:pPr>
              <a:defRPr sz="1700">
                <a:solidFill>
                  <a:srgbClr val="ECF0F5"/>
                </a:solidFill>
              </a:defRPr>
            </a:pPr>
            <a:r>
              <a:t>B. React component calls getConstants/getEquations/getLanders (axios).</a:t>
            </a:r>
          </a:p>
          <a:p>
            <a:pPr>
              <a:defRPr sz="1700">
                <a:solidFill>
                  <a:srgbClr val="ECF0F5"/>
                </a:solidFill>
              </a:defRPr>
            </a:pPr>
            <a:r>
              <a:t>C. Express route handlers call query layer in db.js.</a:t>
            </a:r>
          </a:p>
          <a:p>
            <a:pPr>
              <a:defRPr sz="1700">
                <a:solidFill>
                  <a:srgbClr val="ECF0F5"/>
                </a:solidFill>
              </a:defRPr>
            </a:pPr>
            <a:r>
              <a:t>D. Query layer returns JSON rows from in-memory structures.</a:t>
            </a:r>
          </a:p>
          <a:p>
            <a:pPr>
              <a:defRPr sz="1700">
                <a:solidFill>
                  <a:srgbClr val="ECF0F5"/>
                </a:solidFill>
              </a:defRPr>
            </a:pPr>
            <a:r>
              <a:t>E. Route sends res.json(...) to client through Vite proxy.</a:t>
            </a:r>
          </a:p>
          <a:p>
            <a:pPr>
              <a:defRPr sz="1700">
                <a:solidFill>
                  <a:srgbClr val="ECF0F5"/>
                </a:solidFill>
              </a:defRPr>
            </a:pPr>
            <a:r>
              <a:t>F. React updates telemetry panels and simulation visual state.</a:t>
            </a:r>
          </a:p>
          <a:p>
            <a:pPr>
              <a:defRPr sz="1700">
                <a:solidFill>
                  <a:srgbClr val="ECF0F5"/>
                </a:solidFill>
              </a:defRPr>
            </a:pPr>
            <a:r>
              <a:t>G. During simulation, telemetry is logged and can be fetched on demand.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0F0F0"/>
                </a:solidFill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0704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ECF0F5"/>
                </a:solidFill>
              </a:defRPr>
            </a:pPr>
            <a:r>
              <a:t>The client never accesses the database directly; all data flows through API routes.</a:t>
            </a:r>
          </a:p>
          <a:p>
            <a:pPr>
              <a:defRPr sz="1900">
                <a:solidFill>
                  <a:srgbClr val="ECF0F5"/>
                </a:solidFill>
              </a:defRPr>
            </a:pPr>
            <a:r>
              <a:t>server/src/index.js orchestrates route handling, simulation state, and db query calls.</a:t>
            </a:r>
          </a:p>
          <a:p>
            <a:pPr>
              <a:defRPr sz="1900">
                <a:solidFill>
                  <a:srgbClr val="ECF0F5"/>
                </a:solidFill>
              </a:defRPr>
            </a:pPr>
            <a:r>
              <a:t>server/src/database/db.js provides durable JSON-backed storage plus query helpers.</a:t>
            </a:r>
          </a:p>
          <a:p>
            <a:pPr>
              <a:defRPr sz="1900">
                <a:solidFill>
                  <a:srgbClr val="ECF0F5"/>
                </a:solidFill>
              </a:defRPr>
            </a:pPr>
            <a:r>
              <a:t>client/src/api/simulation.js centralizes request functions used by React components.</a:t>
            </a:r>
          </a:p>
          <a:p>
            <a:pPr>
              <a:defRPr sz="1900">
                <a:solidFill>
                  <a:srgbClr val="ECF0F5"/>
                </a:solidFill>
              </a:defRPr>
            </a:pPr>
            <a:r>
              <a:t>This architecture keeps UI concerns separate from simulation and persistence concerns.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